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1"/>
  </p:notesMasterIdLst>
  <p:sldIdLst>
    <p:sldId id="257" r:id="rId2"/>
    <p:sldId id="262" r:id="rId3"/>
    <p:sldId id="264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K. Fairfield" userId="120df712-66cb-4a4f-bf70-7779ebdb66bf" providerId="ADAL" clId="{1160B6D0-E94E-40E2-910A-668DD5C90F3E}"/>
    <pc:docChg chg="custSel modSld">
      <pc:chgData name="Amy K. Fairfield" userId="120df712-66cb-4a4f-bf70-7779ebdb66bf" providerId="ADAL" clId="{1160B6D0-E94E-40E2-910A-668DD5C90F3E}" dt="2022-10-07T14:46:31.496" v="136" actId="6549"/>
      <pc:docMkLst>
        <pc:docMk/>
      </pc:docMkLst>
      <pc:sldChg chg="modSp mod">
        <pc:chgData name="Amy K. Fairfield" userId="120df712-66cb-4a4f-bf70-7779ebdb66bf" providerId="ADAL" clId="{1160B6D0-E94E-40E2-910A-668DD5C90F3E}" dt="2022-10-07T14:46:31.496" v="136" actId="6549"/>
        <pc:sldMkLst>
          <pc:docMk/>
          <pc:sldMk cId="995395467" sldId="272"/>
        </pc:sldMkLst>
        <pc:spChg chg="mod">
          <ac:chgData name="Amy K. Fairfield" userId="120df712-66cb-4a4f-bf70-7779ebdb66bf" providerId="ADAL" clId="{1160B6D0-E94E-40E2-910A-668DD5C90F3E}" dt="2022-10-07T14:46:31.496" v="136" actId="6549"/>
          <ac:spMkLst>
            <pc:docMk/>
            <pc:sldMk cId="995395467" sldId="272"/>
            <ac:spMk id="3" creationId="{71E0594C-74BD-4265-A81E-6E31D8EB948C}"/>
          </ac:spMkLst>
        </pc:spChg>
      </pc:sldChg>
    </pc:docChg>
  </pc:docChgLst>
  <pc:docChgLst>
    <pc:chgData name="Dr. Amy K. Fairfield" userId="120df712-66cb-4a4f-bf70-7779ebdb66bf" providerId="ADAL" clId="{A9653C3B-1E90-47B9-896E-863BD44FD2C6}"/>
    <pc:docChg chg="modSld">
      <pc:chgData name="Dr. Amy K. Fairfield" userId="120df712-66cb-4a4f-bf70-7779ebdb66bf" providerId="ADAL" clId="{A9653C3B-1E90-47B9-896E-863BD44FD2C6}" dt="2023-03-17T21:01:34.385" v="2" actId="20577"/>
      <pc:docMkLst>
        <pc:docMk/>
      </pc:docMkLst>
      <pc:sldChg chg="modSp mod">
        <pc:chgData name="Dr. Amy K. Fairfield" userId="120df712-66cb-4a4f-bf70-7779ebdb66bf" providerId="ADAL" clId="{A9653C3B-1E90-47B9-896E-863BD44FD2C6}" dt="2023-03-17T21:01:34.385" v="2" actId="20577"/>
        <pc:sldMkLst>
          <pc:docMk/>
          <pc:sldMk cId="380824633" sldId="271"/>
        </pc:sldMkLst>
        <pc:spChg chg="mod">
          <ac:chgData name="Dr. Amy K. Fairfield" userId="120df712-66cb-4a4f-bf70-7779ebdb66bf" providerId="ADAL" clId="{A9653C3B-1E90-47B9-896E-863BD44FD2C6}" dt="2023-03-17T21:01:34.385" v="2" actId="20577"/>
          <ac:spMkLst>
            <pc:docMk/>
            <pc:sldMk cId="380824633" sldId="271"/>
            <ac:spMk id="3" creationId="{D8E9137B-4472-4C9A-9EC7-77773731FF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73510-EB40-4EFE-8E7B-B021804C20FB}" type="datetimeFigureOut">
              <a:rPr lang="en-US" smtClean="0"/>
              <a:t>3/17/2023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FAD12-8037-436A-8BFB-17AED1FA07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68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777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38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740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37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805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870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55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FAD12-8037-436A-8BFB-17AED1FA07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77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Chapter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Time value of money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2C26-A29B-4EBA-B261-51A3E659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E59E2-D3D0-4883-BD90-5722E5107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 will demonstrate an understanding of, and the ability to apply the concept of the Time Value of Money.</a:t>
            </a:r>
          </a:p>
          <a:p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relationship between the value of money now and some time in the future.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do we care?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Saving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investing  retirement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45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6E13-C854-4E43-9C96-3EAD1FCB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48777-B98D-4A1A-91CE-14CF7199C2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Present value</a:t>
            </a:r>
          </a:p>
          <a:p>
            <a:r>
              <a:rPr lang="en-US" dirty="0"/>
              <a:t>Future value</a:t>
            </a:r>
          </a:p>
          <a:p>
            <a:r>
              <a:rPr lang="en-US" dirty="0"/>
              <a:t>Interest</a:t>
            </a:r>
          </a:p>
          <a:p>
            <a:r>
              <a:rPr lang="en-US" dirty="0"/>
              <a:t>Principal</a:t>
            </a:r>
          </a:p>
          <a:p>
            <a:r>
              <a:rPr lang="en-US" dirty="0"/>
              <a:t>Rate of interest</a:t>
            </a:r>
          </a:p>
          <a:p>
            <a:r>
              <a:rPr lang="en-US" dirty="0"/>
              <a:t>Simple interest</a:t>
            </a:r>
          </a:p>
          <a:p>
            <a:r>
              <a:rPr lang="en-US" dirty="0"/>
              <a:t>Compound interest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4A642-A62B-427D-B72B-B1E2E190AC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Annuity</a:t>
            </a:r>
          </a:p>
          <a:p>
            <a:pPr lvl="1"/>
            <a:r>
              <a:rPr lang="en-US" dirty="0"/>
              <a:t>Ordinary annuity</a:t>
            </a:r>
          </a:p>
          <a:p>
            <a:pPr lvl="1"/>
            <a:r>
              <a:rPr lang="en-US" dirty="0"/>
              <a:t>Annuity due</a:t>
            </a:r>
          </a:p>
          <a:p>
            <a:r>
              <a:rPr lang="en-US" dirty="0"/>
              <a:t>Perpetuity</a:t>
            </a:r>
          </a:p>
          <a:p>
            <a:r>
              <a:rPr lang="en-US" dirty="0"/>
              <a:t>FVIF</a:t>
            </a:r>
          </a:p>
          <a:p>
            <a:r>
              <a:rPr lang="en-US" dirty="0"/>
              <a:t>FVIFA</a:t>
            </a:r>
          </a:p>
          <a:p>
            <a:r>
              <a:rPr lang="en-US" dirty="0"/>
              <a:t>PVIF</a:t>
            </a:r>
          </a:p>
          <a:p>
            <a:r>
              <a:rPr lang="en-US" dirty="0"/>
              <a:t>PVIFA</a:t>
            </a:r>
          </a:p>
        </p:txBody>
      </p:sp>
    </p:spTree>
    <p:extLst>
      <p:ext uri="{BB962C8B-B14F-4D97-AF65-F5344CB8AC3E}">
        <p14:creationId xmlns:p14="http://schemas.microsoft.com/office/powerpoint/2010/main" val="32482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E56D-8CB5-4DFB-B231-5584DCA0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future value (FV)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A22C-CC21-4E3B-A991-F59BD20A9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908286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You deposit $100 into a savings account, earning 5% interest.  </a:t>
            </a:r>
          </a:p>
          <a:p>
            <a:endParaRPr lang="en-US" dirty="0"/>
          </a:p>
          <a:p>
            <a:r>
              <a:rPr lang="en-US" dirty="0"/>
              <a:t>How much would you have in one (1) year?</a:t>
            </a:r>
          </a:p>
          <a:p>
            <a:endParaRPr lang="en-US" dirty="0"/>
          </a:p>
          <a:p>
            <a:r>
              <a:rPr lang="en-US" dirty="0"/>
              <a:t>How much in two (2) years?</a:t>
            </a:r>
          </a:p>
        </p:txBody>
      </p:sp>
    </p:spTree>
    <p:extLst>
      <p:ext uri="{BB962C8B-B14F-4D97-AF65-F5344CB8AC3E}">
        <p14:creationId xmlns:p14="http://schemas.microsoft.com/office/powerpoint/2010/main" val="127105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BF1F8-93A3-4B5F-B99E-629F2D11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could multiply the PV times (1 + </a:t>
            </a:r>
            <a:r>
              <a:rPr lang="en-US" i="1" dirty="0"/>
              <a:t>i</a:t>
            </a:r>
            <a:r>
              <a:rPr lang="en-US" dirty="0"/>
              <a:t>) twice.  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We could use the FV table.</a:t>
            </a:r>
          </a:p>
        </p:txBody>
      </p:sp>
    </p:spTree>
    <p:extLst>
      <p:ext uri="{BB962C8B-B14F-4D97-AF65-F5344CB8AC3E}">
        <p14:creationId xmlns:p14="http://schemas.microsoft.com/office/powerpoint/2010/main" val="215417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B119-B109-48D8-9F42-73ADDC81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present value (PV)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24331-8583-44EB-A726-2C7E1F77F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value </a:t>
            </a:r>
            <a:r>
              <a:rPr lang="en-US" dirty="0">
                <a:sym typeface="Wingdings" panose="05000000000000000000" pitchFamily="2" charset="2"/>
              </a:rPr>
              <a:t> taking a future sum and discounting it back to see what it is worth today.</a:t>
            </a:r>
          </a:p>
          <a:p>
            <a:r>
              <a:rPr lang="en-US" dirty="0">
                <a:sym typeface="Wingdings" panose="05000000000000000000" pitchFamily="2" charset="2"/>
              </a:rPr>
              <a:t>PV is the inverse of FV.</a:t>
            </a:r>
          </a:p>
        </p:txBody>
      </p:sp>
    </p:spTree>
    <p:extLst>
      <p:ext uri="{BB962C8B-B14F-4D97-AF65-F5344CB8AC3E}">
        <p14:creationId xmlns:p14="http://schemas.microsoft.com/office/powerpoint/2010/main" val="318800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E8C9-89D8-404B-9539-F77F5F19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7ECD5-91C9-4DF3-BAF7-74CE647AA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a choice between either $127.63 at the end of five (5) years or some $X value today.</a:t>
            </a:r>
          </a:p>
          <a:p>
            <a:r>
              <a:rPr lang="en-US" dirty="0"/>
              <a:t>You can deposit the money into a savings account and earn 5% interest. </a:t>
            </a:r>
          </a:p>
          <a:p>
            <a:r>
              <a:rPr lang="en-US" dirty="0"/>
              <a:t>What value would make you indifferent between $X today and the promise of $127.63?</a:t>
            </a:r>
          </a:p>
          <a:p>
            <a:r>
              <a:rPr lang="en-US" dirty="0"/>
              <a:t> Which value are we looking for?</a:t>
            </a:r>
          </a:p>
        </p:txBody>
      </p:sp>
    </p:spTree>
    <p:extLst>
      <p:ext uri="{BB962C8B-B14F-4D97-AF65-F5344CB8AC3E}">
        <p14:creationId xmlns:p14="http://schemas.microsoft.com/office/powerpoint/2010/main" val="61431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6BD8-9F99-4508-9CD0-97F38C91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Next, future value of an annuity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41E94-95DA-41F8-BB75-87ED6609D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There is a promise to pay $1,000 into an account each year for three (3) years, at the end of each year. </a:t>
            </a:r>
          </a:p>
          <a:p>
            <a:r>
              <a:rPr lang="en-US" dirty="0"/>
              <a:t>What is this stream of payments called?</a:t>
            </a:r>
          </a:p>
          <a:p>
            <a:r>
              <a:rPr lang="en-US" dirty="0"/>
              <a:t>Which kind is it?</a:t>
            </a:r>
          </a:p>
          <a:p>
            <a:r>
              <a:rPr lang="en-US" dirty="0"/>
              <a:t>If the account pays 4% interest, how much would you have by the end of the three years?</a:t>
            </a:r>
          </a:p>
        </p:txBody>
      </p:sp>
    </p:spTree>
    <p:extLst>
      <p:ext uri="{BB962C8B-B14F-4D97-AF65-F5344CB8AC3E}">
        <p14:creationId xmlns:p14="http://schemas.microsoft.com/office/powerpoint/2010/main" val="175583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1778-C2F5-49D7-B03B-7E22D220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11D04-45BA-49D3-98EE-EEDDB3831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promise to pay $1,000 into an account each year for three (3) years, at the beginning of each year. </a:t>
            </a:r>
          </a:p>
          <a:p>
            <a:r>
              <a:rPr lang="en-US" dirty="0"/>
              <a:t>What is this stream of payments called?</a:t>
            </a:r>
          </a:p>
          <a:p>
            <a:r>
              <a:rPr lang="en-US" dirty="0"/>
              <a:t>Which kind is it?</a:t>
            </a:r>
          </a:p>
          <a:p>
            <a:r>
              <a:rPr lang="en-US" dirty="0"/>
              <a:t>If the account pays 4% interest, how much would you have by the end of the three years?</a:t>
            </a:r>
          </a:p>
        </p:txBody>
      </p:sp>
    </p:spTree>
    <p:extLst>
      <p:ext uri="{BB962C8B-B14F-4D97-AF65-F5344CB8AC3E}">
        <p14:creationId xmlns:p14="http://schemas.microsoft.com/office/powerpoint/2010/main" val="280021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EA48-BC7F-4248-B1A6-BA7B6A97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C137B-DFDA-40B5-8171-014FA4A4E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observe between the two numbers?</a:t>
            </a:r>
          </a:p>
          <a:p>
            <a:endParaRPr lang="en-US" dirty="0"/>
          </a:p>
          <a:p>
            <a:r>
              <a:rPr lang="en-US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916264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E613-E719-48D0-896A-AE2ED564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38E0D-0B29-4958-B301-831B28D5C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what $ value today would you be indifferent to if you received $1,000 for three years, paid at the end of each year, and paying 4% interest?</a:t>
            </a:r>
          </a:p>
        </p:txBody>
      </p:sp>
    </p:spTree>
    <p:extLst>
      <p:ext uri="{BB962C8B-B14F-4D97-AF65-F5344CB8AC3E}">
        <p14:creationId xmlns:p14="http://schemas.microsoft.com/office/powerpoint/2010/main" val="112535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C0F9-444B-4FA3-A09D-7E7A55A6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time 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FC7E-4371-4F39-BE54-59DC62C6A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 at what $ value today would you be indifferent to if you received $1,000 for three years, paid at the beginning of each year, and paying 4% interest?</a:t>
            </a:r>
          </a:p>
        </p:txBody>
      </p:sp>
    </p:spTree>
    <p:extLst>
      <p:ext uri="{BB962C8B-B14F-4D97-AF65-F5344CB8AC3E}">
        <p14:creationId xmlns:p14="http://schemas.microsoft.com/office/powerpoint/2010/main" val="1841134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81E2F-7F75-44A0-A784-6C79864EA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pattern?</a:t>
            </a:r>
          </a:p>
        </p:txBody>
      </p:sp>
    </p:spTree>
    <p:extLst>
      <p:ext uri="{BB962C8B-B14F-4D97-AF65-F5344CB8AC3E}">
        <p14:creationId xmlns:p14="http://schemas.microsoft.com/office/powerpoint/2010/main" val="890926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888A-4C1A-49CF-8762-86CDEBC2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compounding periods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9137B-4472-4C9A-9EC7-77773731F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You put $1,000 in a bank that advertises paying 6% semiannually (6</a:t>
            </a:r>
            <a:r>
              <a:rPr lang="en-US"/>
              <a:t>% is </a:t>
            </a:r>
            <a:r>
              <a:rPr lang="en-US" dirty="0"/>
              <a:t>the annual rate.)</a:t>
            </a:r>
          </a:p>
          <a:p>
            <a:r>
              <a:rPr lang="en-US" dirty="0"/>
              <a:t>How much money would you have in one (1) year?</a:t>
            </a:r>
          </a:p>
          <a:p>
            <a:endParaRPr lang="en-US" dirty="0"/>
          </a:p>
          <a:p>
            <a:r>
              <a:rPr lang="en-US" dirty="0"/>
              <a:t>What if the compounding was quarterly?</a:t>
            </a:r>
          </a:p>
        </p:txBody>
      </p:sp>
    </p:spTree>
    <p:extLst>
      <p:ext uri="{BB962C8B-B14F-4D97-AF65-F5344CB8AC3E}">
        <p14:creationId xmlns:p14="http://schemas.microsoft.com/office/powerpoint/2010/main" val="38082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E782-7C6D-42C5-836A-C0ADB29B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if we want to know the present value (PV)?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594C-74BD-4265-A81E-6E31D8EB9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PV: FV / (1 + i/m)</a:t>
            </a:r>
            <a:r>
              <a:rPr lang="en-US" baseline="30000" dirty="0" err="1"/>
              <a:t>mn</a:t>
            </a:r>
            <a:endParaRPr lang="en-US" baseline="30000" dirty="0"/>
          </a:p>
          <a:p>
            <a:r>
              <a:rPr lang="en-US" dirty="0"/>
              <a:t>FV = $8,000 	i=8%	n=3 	annually=</a:t>
            </a:r>
          </a:p>
          <a:p>
            <a:endParaRPr lang="en-US" dirty="0"/>
          </a:p>
          <a:p>
            <a:r>
              <a:rPr lang="en-US" dirty="0"/>
              <a:t>Now, compounded semiannually?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do you suppose is the relationship between frequency of discounting periods and PV? </a:t>
            </a:r>
          </a:p>
        </p:txBody>
      </p:sp>
    </p:spTree>
    <p:extLst>
      <p:ext uri="{BB962C8B-B14F-4D97-AF65-F5344CB8AC3E}">
        <p14:creationId xmlns:p14="http://schemas.microsoft.com/office/powerpoint/2010/main" val="995395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BB9C-3FC2-4AEF-ABA8-E8B185B7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cash flows aka uneven payments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3C498-68C1-41C3-ADE7-AB808217F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/>
              <a:t>Year</a:t>
            </a:r>
          </a:p>
          <a:p>
            <a:r>
              <a:rPr lang="en-US" dirty="0"/>
              <a:t>0	1	2	3	4	5</a:t>
            </a:r>
          </a:p>
          <a:p>
            <a:r>
              <a:rPr lang="en-US" dirty="0"/>
              <a:t>$0   	$400	$800	$500	$400	$300</a:t>
            </a:r>
          </a:p>
          <a:p>
            <a:endParaRPr lang="en-US" dirty="0"/>
          </a:p>
          <a:p>
            <a:r>
              <a:rPr lang="en-US" dirty="0"/>
              <a:t>0	1	2	3	4	5	6	7</a:t>
            </a:r>
          </a:p>
          <a:p>
            <a:r>
              <a:rPr lang="en-US" dirty="0"/>
              <a:t>$0	$600	$300	$300	$300	$200	$200	$200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4246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ECE3-C517-4ED1-B9A5-FC609709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perpetuity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9238A-AA2B-46D4-8965-192FA9555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annuity that continues forever.</a:t>
            </a:r>
          </a:p>
          <a:p>
            <a:endParaRPr lang="en-US" dirty="0"/>
          </a:p>
          <a:p>
            <a:r>
              <a:rPr lang="en-US" dirty="0"/>
              <a:t>What is the present value of a $1,000 perpetuity discounted at 10%?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7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EFAB-56B7-41F3-9288-C22AF960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interest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C0D1-2FB4-4416-9551-B95DEC768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know the nominal (named) rate, we can figure out the effective rate.</a:t>
            </a:r>
          </a:p>
          <a:p>
            <a:r>
              <a:rPr lang="en-US" dirty="0"/>
              <a:t>An example to explain … </a:t>
            </a:r>
          </a:p>
          <a:p>
            <a:r>
              <a:rPr lang="en-US" dirty="0"/>
              <a:t>A life insurance company offers loans to its policy holders, against their policies, at a [nominal] annual interest rate of 8%, compounded quarterly.</a:t>
            </a:r>
          </a:p>
          <a:p>
            <a:endParaRPr lang="en-US" dirty="0"/>
          </a:p>
          <a:p>
            <a:r>
              <a:rPr lang="en-US" dirty="0"/>
              <a:t>What is the effective rate on this loan?</a:t>
            </a:r>
          </a:p>
        </p:txBody>
      </p:sp>
    </p:spTree>
    <p:extLst>
      <p:ext uri="{BB962C8B-B14F-4D97-AF65-F5344CB8AC3E}">
        <p14:creationId xmlns:p14="http://schemas.microsoft.com/office/powerpoint/2010/main" val="205016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C43C-7058-4B15-87D9-7D4466D4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 Rule 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67566-697C-4FB2-AF63-9B36214C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 used to make financial decisions.</a:t>
            </a:r>
          </a:p>
          <a:p>
            <a:r>
              <a:rPr lang="en-US" dirty="0"/>
              <a:t>If PV of future cash flows – initial outlay &gt; 0, accept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56257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{D6D70546-8669-4E29-81AA-2203962D97DA}tf56160789_win32</Template>
  <TotalTime>657</TotalTime>
  <Words>777</Words>
  <Application>Microsoft Office PowerPoint</Application>
  <PresentationFormat>Widescreen</PresentationFormat>
  <Paragraphs>113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Bookman Old Style</vt:lpstr>
      <vt:lpstr>Calibri</vt:lpstr>
      <vt:lpstr>Franklin Gothic Book</vt:lpstr>
      <vt:lpstr>Times New Roman</vt:lpstr>
      <vt:lpstr>1_RetrospectVTI</vt:lpstr>
      <vt:lpstr>Chapter 5</vt:lpstr>
      <vt:lpstr>Course Objective C</vt:lpstr>
      <vt:lpstr>Terminology</vt:lpstr>
      <vt:lpstr>Let’s start with future value (FV)</vt:lpstr>
      <vt:lpstr>PowerPoint Presentation</vt:lpstr>
      <vt:lpstr>Now, present value (PV)</vt:lpstr>
      <vt:lpstr>Example</vt:lpstr>
      <vt:lpstr>Next, future value of an annuity</vt:lpstr>
      <vt:lpstr>Example</vt:lpstr>
      <vt:lpstr>Observation</vt:lpstr>
      <vt:lpstr>Next example</vt:lpstr>
      <vt:lpstr>This time … </vt:lpstr>
      <vt:lpstr>PowerPoint Presentation</vt:lpstr>
      <vt:lpstr>Other compounding periods</vt:lpstr>
      <vt:lpstr>What if we want to know the present value (PV)?</vt:lpstr>
      <vt:lpstr>Mixed cash flows aka uneven payments</vt:lpstr>
      <vt:lpstr>Next topic: perpetuity</vt:lpstr>
      <vt:lpstr>Effective interest rate</vt:lpstr>
      <vt:lpstr>NPV Rule ...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</dc:title>
  <dc:creator>Amy Fairfield</dc:creator>
  <cp:lastModifiedBy>Dr. Amy K. Fairfield</cp:lastModifiedBy>
  <cp:revision>23</cp:revision>
  <dcterms:created xsi:type="dcterms:W3CDTF">2022-01-30T17:45:24Z</dcterms:created>
  <dcterms:modified xsi:type="dcterms:W3CDTF">2023-03-17T21:01:35Z</dcterms:modified>
</cp:coreProperties>
</file>